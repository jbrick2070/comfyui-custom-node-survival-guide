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we are not anti-AI — we use it every day. The skill is thinking before and after the prompt.
Tip: ask the room for one AI task from their week and run it through the three questions live.
Q1 gives the task a shape (compare / find exceptions / summarize / draft). Q2 is grounding — the AI only knows what it can see. Q3 sets the verification bar BEFORE reading the answer, which is when we are least biased.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presenting: swap “our internal AI” for the actual tool name.
Why report-first (step 2): making the AI show what the documents say BEFORE answering keeps it anchored to real sources and exposes gaps — if the report is thin, you know the docs don’t cover it, and the answer that follows deserves extra scrutiny. Asking for quotes and doc names (step 4) turns fact-checking from a chore into a 30-second spot-check.
Grounded answers still get spot-checked: retrieval reduces errors, it does not eliminate them.
Copilot: best when the deliverable is the file itself (Word/Excel/Outlook) — it keeps formatting and works on the actual document. Same critical-thinking rules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(all public, checkable):
1) Lee, Hao-Ping (Hank) et al., “The Impact of Generative AI on Critical Thinking: Self-Reported Reductions in Cognitive Effort and Confidence Effects From a Survey of Knowledge Workers,” CHI 2025 (Microsoft Research + Carnegie Mellon). 319 knowledge workers, 936 real AI-use examples. Higher confidence in the AI correlated with LESS critical thinking; higher self-confidence with MORE. https://www.microsoft.com/en-us/research/publication/the-impact-of-generative-ai-on-critical-thinking-self-reported-reductions-in-cognitive-effort-and-confidence-effects-from-a-survey-of-knowledge-workers/
2) Moffatt v. Air Canada, British Columbia Civil Resolution Tribunal, Feb 2024. Chatbot invented a retroactive bereavement-fare refund; tribunal rejected Air Canada’s claim that the chatbot was “a separate legal entity” and awarded ~CA$812. https://www.mccarthy.ca/en/insights/blogs/techlex/moffatt-v-air-canada-misrepresentation-ai-chatbot
3) Associated Press investigation, Oct 26, 2024: OpenAI’s Whisper speech-to-text hallucinating fabricated sentences; a Whisper-based medical tool (Nabla) used by 30,000+ clinicians across ~40 health systems. OpenAI itself advises against use in high-risk decision contexts. Coverage: https://fortune.com/2024/10/26/openai-transcription-tool-whisper-hallucination-rate-ai-tools-hospitals-patients-doctors and https://www.healthcareitnews.com/news/openais-general-purpose-speech-recognition-model-flawed-researchers-say
4) Goddard, Roudsari &amp; Wyatt, “Automation bias: a systematic review of frequency, effect mediators, and mitigators,” JAMIA 19(1):121–127, 2012 — automation bias is a robust, measurable effect in clinical decision support. https://academic.oup.com/jamia/article-abstract/19/1/121/732254
Delivery tip: end on the band — “AI drafts. You decide.” is the one line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WORK  ·  HEALTHCARE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first, then prompt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5910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is what makes AI useful — and safe — in our work. Three questions before every AI task: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6432" cy="3913632"/>
          </a:xfrm>
          <a:prstGeom prst="roundRect">
            <a:avLst>
              <a:gd name="adj" fmla="val 2646"/>
            </a:avLst>
          </a:prstGeom>
          <a:solidFill>
            <a:srgbClr val="104A57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542032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2681935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19272" y="25968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2688" y="3456432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actually asking?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32688" y="4206240"/>
            <a:ext cx="2871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task before you type. Compare two lists. Find the exceptions. Summarize a policy. Draft a first version. A sharper ask gets a sharper answer.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0832" y="2212848"/>
            <a:ext cx="3456432" cy="3913632"/>
          </a:xfrm>
          <a:prstGeom prst="roundRect">
            <a:avLst>
              <a:gd name="adj" fmla="val 2646"/>
            </a:avLst>
          </a:prstGeom>
          <a:solidFill>
            <a:srgbClr val="104A57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2542032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343" y="2681935"/>
            <a:ext cx="341986" cy="3419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0024" y="25968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63440" y="3456432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sources does it need?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4663440" y="4206240"/>
            <a:ext cx="2871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assume the AI “just knows.” Point it at the right material first — our documentation, the spec, the policy. No sources, no trust.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01584" y="2212848"/>
            <a:ext cx="3456432" cy="3913632"/>
          </a:xfrm>
          <a:prstGeom prst="roundRect">
            <a:avLst>
              <a:gd name="adj" fmla="val 2646"/>
            </a:avLst>
          </a:prstGeom>
          <a:solidFill>
            <a:srgbClr val="104A57"/>
          </a:solidFill>
          <a:ln/>
        </p:spPr>
      </p:sp>
      <p:sp>
        <p:nvSpPr>
          <p:cNvPr id="18" name="Shape 14"/>
          <p:cNvSpPr/>
          <p:nvPr/>
        </p:nvSpPr>
        <p:spPr>
          <a:xfrm>
            <a:off x="8394192" y="2542032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095" y="2681935"/>
            <a:ext cx="341986" cy="34198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80776" y="25968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94192" y="3456432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 fact-check?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8394192" y="4206240"/>
            <a:ext cx="2871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before you read the answer, not after. Names, numbers, versions, claims about functionality — verify anything you’ll act 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THAT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tool to the task — then feed it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806440" cy="3456432"/>
          </a:xfrm>
          <a:prstGeom prst="roundRect">
            <a:avLst>
              <a:gd name="adj" fmla="val 2646"/>
            </a:avLst>
          </a:prstGeom>
          <a:solidFill>
            <a:srgbClr val="E8F3F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92224"/>
            <a:ext cx="548640" cy="548640"/>
          </a:xfrm>
          <a:prstGeom prst="ellipse">
            <a:avLst/>
          </a:prstGeom>
          <a:solidFill>
            <a:srgbClr val="0E7C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91566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373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documentation, features &amp; functionality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52374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our internal AI</a:t>
            </a:r>
            <a:pPr indent="0" marL="0">
              <a:buNone/>
            </a:pPr>
            <a:r>
              <a:rPr lang="en-US" sz="1300" dirty="0">
                <a:solidFill>
                  <a:srgbClr val="3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searches our document sources.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RECIPE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14400" y="3255264"/>
            <a:ext cx="274320" cy="27432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335024" y="321868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the right document sources for your topic.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3675888"/>
            <a:ext cx="274320" cy="27432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335024" y="363931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“Write a short report on what our docs say about X.”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4400" y="4096512"/>
            <a:ext cx="274320" cy="27432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335024" y="405993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 your real question against that report.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14400" y="4517136"/>
            <a:ext cx="274320" cy="27432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335024" y="4480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quotes + doc names so you can spot-check fast.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720840" y="1517904"/>
            <a:ext cx="4828032" cy="1627632"/>
          </a:xfrm>
          <a:prstGeom prst="roundRect">
            <a:avLst>
              <a:gd name="adj" fmla="val 5618"/>
            </a:avLst>
          </a:prstGeom>
          <a:solidFill>
            <a:srgbClr val="F1F4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995160" y="1773936"/>
            <a:ext cx="548640" cy="548640"/>
          </a:xfrm>
          <a:prstGeom prst="ellipse">
            <a:avLst/>
          </a:prstGeom>
          <a:solidFill>
            <a:srgbClr val="0B3C4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04" y="1897380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708392" y="17373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documents &amp; deliverables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6995160" y="2395728"/>
            <a:ext cx="4279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Copilot for Word, Excel &amp; Outlook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inside the file. Hand it the source material; review every name and number it writes.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720840" y="3346704"/>
            <a:ext cx="4828032" cy="1627632"/>
          </a:xfrm>
          <a:prstGeom prst="roundRect">
            <a:avLst>
              <a:gd name="adj" fmla="val 5618"/>
            </a:avLst>
          </a:prstGeom>
          <a:solidFill>
            <a:srgbClr val="F1F4F5"/>
          </a:solidFill>
          <a:ln/>
        </p:spPr>
      </p:sp>
      <p:sp>
        <p:nvSpPr>
          <p:cNvPr id="28" name="Shape 24"/>
          <p:cNvSpPr/>
          <p:nvPr/>
        </p:nvSpPr>
        <p:spPr>
          <a:xfrm>
            <a:off x="6995160" y="3602736"/>
            <a:ext cx="548640" cy="548640"/>
          </a:xfrm>
          <a:prstGeom prst="ellipse">
            <a:avLst/>
          </a:prstGeom>
          <a:solidFill>
            <a:srgbClr val="0E7C8A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604" y="3726180"/>
            <a:ext cx="301752" cy="30175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08392" y="3566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Drafting, brainstorming, rewriting</a:t>
            </a:r>
            <a:endParaRPr lang="en-US" sz="1550" dirty="0"/>
          </a:p>
        </p:txBody>
      </p:sp>
      <p:sp>
        <p:nvSpPr>
          <p:cNvPr id="31" name="Text 26"/>
          <p:cNvSpPr/>
          <p:nvPr/>
        </p:nvSpPr>
        <p:spPr>
          <a:xfrm>
            <a:off x="6995160" y="4224528"/>
            <a:ext cx="4279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Any assistant works — the recipe is your judgment.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questions always run first: task, sources, fact-check.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40080" y="5230368"/>
            <a:ext cx="10908792" cy="1170432"/>
          </a:xfrm>
          <a:prstGeom prst="roundRect">
            <a:avLst>
              <a:gd name="adj" fmla="val 7813"/>
            </a:avLst>
          </a:prstGeom>
          <a:solidFill>
            <a:srgbClr val="0B3C46"/>
          </a:solidFill>
          <a:ln/>
        </p:spPr>
      </p:sp>
      <p:sp>
        <p:nvSpPr>
          <p:cNvPr id="33" name="Text 28"/>
          <p:cNvSpPr/>
          <p:nvPr/>
        </p:nvSpPr>
        <p:spPr>
          <a:xfrm>
            <a:off x="960120" y="5394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THAT MAKE IT THINK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960120" y="5724144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these lists — what changed?”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4443984" y="5724144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 the exceptions and edge cases.”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7927848" y="5724144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this answer wrong?”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·  DOCUMENTED CASES, NOT VIBES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4480560" cy="3675888"/>
          </a:xfrm>
          <a:prstGeom prst="roundRect">
            <a:avLst>
              <a:gd name="adj" fmla="val 2488"/>
            </a:avLst>
          </a:prstGeom>
          <a:solidFill>
            <a:srgbClr val="104A5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556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724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studied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 + Carnegie Mellon,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people trusted the AI, the less critical thinking they reported. Confidence in their own expertise went the other way — more checking, sharper results.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94960" y="1536192"/>
            <a:ext cx="6153912" cy="1700784"/>
          </a:xfrm>
          <a:prstGeom prst="roundRect">
            <a:avLst>
              <a:gd name="adj" fmla="val 5376"/>
            </a:avLst>
          </a:prstGeom>
          <a:solidFill>
            <a:srgbClr val="104A57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0" y="1792224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724" y="1915668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82512" y="1755648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chatbot’s answer is your answer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2395728"/>
            <a:ext cx="5605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Canada, 2024 — a tribunal held the airline liable after its website chatbot invented a bereavement-refund policy that didn’t exist. “The AI said it” was no defense.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3511296"/>
            <a:ext cx="6153912" cy="1700784"/>
          </a:xfrm>
          <a:prstGeom prst="roundRect">
            <a:avLst>
              <a:gd name="adj" fmla="val 5376"/>
            </a:avLst>
          </a:prstGeom>
          <a:solidFill>
            <a:srgbClr val="104A57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0" y="37673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24" y="3890772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82512" y="3730752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healthcare, the stakes are higher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0" y="4370832"/>
            <a:ext cx="5605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investigation, 2024 — an AI transcription tool used by 30,000+ clinicians invented text no one said. Acting on wrong automated output (“automation bias”) is a documented risk in clinical software.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5468112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  <a:ln/>
        </p:spPr>
      </p:sp>
      <p:sp>
        <p:nvSpPr>
          <p:cNvPr id="19" name="Text 15"/>
          <p:cNvSpPr/>
          <p:nvPr/>
        </p:nvSpPr>
        <p:spPr>
          <a:xfrm>
            <a:off x="960120" y="546811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You decide.  </a:t>
            </a:r>
            <a:pPr indent="0" marL="0">
              <a:buNone/>
            </a:pPr>
            <a:r>
              <a:rPr lang="en-US" sz="1300" dirty="0">
                <a:solidFill>
                  <a:srgbClr val="0B3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anything that leaves the building — names, numbers, dates, functionality claims.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thinking x AI</dc:title>
  <dc:subject>PptxGenJS Presentation</dc:subject>
  <dc:creator>Healthcare IT — internal</dc:creator>
  <cp:lastModifiedBy>Healthcare IT — internal</cp:lastModifiedBy>
  <cp:revision>1</cp:revision>
  <dcterms:created xsi:type="dcterms:W3CDTF">2026-08-17T17:43:21Z</dcterms:created>
  <dcterms:modified xsi:type="dcterms:W3CDTF">2026-08-17T17:43:21Z</dcterms:modified>
</cp:coreProperties>
</file>